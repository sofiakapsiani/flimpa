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27"/>
  </p:normalViewPr>
  <p:slideViewPr>
    <p:cSldViewPr snapToGrid="0" snapToObjects="1">
      <p:cViewPr varScale="1">
        <p:scale>
          <a:sx n="91" d="100"/>
          <a:sy n="91" d="100"/>
        </p:scale>
        <p:origin x="192" y="5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9202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5F7F8"/>
                </a:solidFill>
              </a:defRPr>
            </a:pPr>
            <a:r>
              <a:t>FLIMPA User Manual</a:t>
            </a:r>
          </a:p>
          <a:p>
            <a:pPr algn="ctr">
              <a:defRPr sz="2800">
                <a:solidFill>
                  <a:srgbClr val="1EBEB2"/>
                </a:solidFill>
              </a:defRPr>
            </a:pPr>
            <a:r>
              <a:t>v2.0.0</a:t>
            </a:r>
          </a:p>
          <a:p>
            <a:pPr algn="ctr">
              <a:defRPr sz="1700">
                <a:solidFill>
                  <a:srgbClr val="B6C0C7"/>
                </a:solidFill>
              </a:defRPr>
            </a:pPr>
            <a:r>
              <a:t>Phasor-plot analysis of TCSPC-FLIM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6C0C7"/>
                </a:solidFill>
              </a:defRPr>
            </a:pPr>
            <a:r>
              <a:t>Installation and system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macOS: download the v2.0.0 .dmg, drag FLIMPA to Applications; if blocked use System Settings → Privacy &amp; Security → Open Anyway.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Windows: download the latest executable; if SmartScreen appears choose More info → Run anyway.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From source: Python 3.11+, install requirements and run main.py.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Recommended image size ≤512×512 px; time-lapse analysis is not supported.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Main window and menus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Left: analysis parameters and phasor plot.</a:t>
            </a:r>
          </a:p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Centre: Intensity display / result tabs.</a:t>
            </a:r>
          </a:p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Right: loaded-file table.</a:t>
            </a:r>
          </a:p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Top menus: Load data, Reference, Mask save, Save data.</a:t>
            </a:r>
          </a:p>
        </p:txBody>
      </p:sp>
      <p:pic>
        <p:nvPicPr>
          <p:cNvPr id="4" name="Picture 3" descr="img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3269899"/>
            <a:ext cx="5669280" cy="912560"/>
          </a:xfrm>
          <a:prstGeom prst="rect">
            <a:avLst/>
          </a:prstGeom>
        </p:spPr>
      </p:pic>
      <p:pic>
        <p:nvPicPr>
          <p:cNvPr id="5" name="Picture 4" descr="img_17.png">
            <a:extLst>
              <a:ext uri="{FF2B5EF4-FFF2-40B4-BE49-F238E27FC236}">
                <a16:creationId xmlns:a16="http://schemas.microsoft.com/office/drawing/2014/main" id="{D35BCD6B-AAD6-D030-AFAB-356A39026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030058"/>
            <a:ext cx="5669280" cy="33922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Loading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Supported formats: .sdt, .ptu, .tif/.tiff.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TIFF ordering: (time, x, y).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Load raw data directly, by condition, with manual masks, or both by condition and with masks.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Single files/samples only; no time-lapse analysis.</a:t>
            </a:r>
          </a:p>
        </p:txBody>
      </p:sp>
      <p:pic>
        <p:nvPicPr>
          <p:cNvPr id="4" name="Picture 3" descr="im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803993"/>
            <a:ext cx="5669280" cy="18443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TIFF and PTU 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TIFF: provide the bin width in ns; Estimate is available but the instrument value is preferred.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PTU: select channel and time binning.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For time dimensions &gt;512, time binning reduces memory use and speeds analysis.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Avoid excessive binning for low-photon data (&lt;100 photons/pixel).</a:t>
            </a:r>
          </a:p>
        </p:txBody>
      </p:sp>
      <p:pic>
        <p:nvPicPr>
          <p:cNvPr id="4" name="Picture 3" descr="img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54183"/>
            <a:ext cx="5669280" cy="43439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Reference and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A mono-exponential reference with known lifetime is recommended for instrumental correction.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Reference → Import reference file; enter Reference lifetime (ns).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The same lifetime is used as donor τ_D for FRET.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Reference → Import IRF accepts .sdt or two-column .csv; IRF-based correction is less accurate than a mono-exponential reference.</a:t>
            </a:r>
          </a:p>
        </p:txBody>
      </p:sp>
      <p:pic>
        <p:nvPicPr>
          <p:cNvPr id="4" name="Picture 3" descr="img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3131719"/>
            <a:ext cx="5669280" cy="11889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Running Phasor Plot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7F8"/>
                </a:solidFill>
                <a:latin typeface="Aptos"/>
              </a:defRPr>
            </a:pPr>
            <a:r>
              <a:t>• Frequency (MHz): laser repetition rate.</a:t>
            </a:r>
          </a:p>
          <a:p>
            <a:pPr>
              <a:spcAft>
                <a:spcPts val="1100"/>
              </a:spcAft>
              <a:defRPr sz="1400">
                <a:solidFill>
                  <a:srgbClr val="F5F7F8"/>
                </a:solidFill>
                <a:latin typeface="Aptos"/>
              </a:defRPr>
            </a:pPr>
            <a:r>
              <a:t>• Reference file and lifetime.</a:t>
            </a:r>
          </a:p>
          <a:p>
            <a:pPr>
              <a:spcAft>
                <a:spcPts val="1100"/>
              </a:spcAft>
              <a:defRPr sz="1400">
                <a:solidFill>
                  <a:srgbClr val="F5F7F8"/>
                </a:solidFill>
                <a:latin typeface="Aptos"/>
              </a:defRPr>
            </a:pPr>
            <a:r>
              <a:t>• Pixel block size: spatial N×N binning (None, 3×3, 7×7, 9×9, 12×12).</a:t>
            </a:r>
          </a:p>
          <a:p>
            <a:pPr>
              <a:spcAft>
                <a:spcPts val="1100"/>
              </a:spcAft>
              <a:defRPr sz="1400">
                <a:solidFill>
                  <a:srgbClr val="F5F7F8"/>
                </a:solidFill>
                <a:latin typeface="Aptos"/>
              </a:defRPr>
            </a:pPr>
            <a:r>
              <a:t>• Min/max photon counts define the threshold mask.</a:t>
            </a:r>
          </a:p>
          <a:p>
            <a:pPr>
              <a:spcAft>
                <a:spcPts val="1100"/>
              </a:spcAft>
              <a:defRPr sz="1400">
                <a:solidFill>
                  <a:srgbClr val="F5F7F8"/>
                </a:solidFill>
                <a:latin typeface="Aptos"/>
              </a:defRPr>
            </a:pPr>
            <a:r>
              <a:t>• Baseline correction uses the earliest time channels; default fraction 3.5%.</a:t>
            </a:r>
          </a:p>
          <a:p>
            <a:pPr>
              <a:spcAft>
                <a:spcPts val="1100"/>
              </a:spcAft>
              <a:defRPr sz="1400">
                <a:solidFill>
                  <a:srgbClr val="F5F7F8"/>
                </a:solidFill>
                <a:latin typeface="Aptos"/>
              </a:defRPr>
            </a:pPr>
            <a:r>
              <a:t>• If real signal is present in early bins, baseline correction can create artefacts.</a:t>
            </a:r>
          </a:p>
        </p:txBody>
      </p:sp>
      <p:pic>
        <p:nvPicPr>
          <p:cNvPr id="4" name="Picture 3" descr="im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846464"/>
            <a:ext cx="5669280" cy="17594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Phasor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G is the horizontal axis; S is the vertical axis.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Universal circle and τ Labels support lifetime interpretation.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Display clouds as Scatter, Histogram or Contour; colour by Individual or Condition.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Gallery Layers can show/hide and reorder files.</a:t>
            </a:r>
          </a:p>
        </p:txBody>
      </p:sp>
      <p:pic>
        <p:nvPicPr>
          <p:cNvPr id="4" name="Picture 3" descr="img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53709"/>
            <a:ext cx="5669280" cy="47449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Phasor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Draw an elliptical ROI in phasor space.</a:t>
            </a:r>
          </a:p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Pixels outside the selected phasor region are dimmed in the lifetime-map preview.</a:t>
            </a:r>
          </a:p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Save the selection using Mask save → Save ROI mask.</a:t>
            </a:r>
          </a:p>
        </p:txBody>
      </p:sp>
      <p:pic>
        <p:nvPicPr>
          <p:cNvPr id="4" name="Picture 3" descr="img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82699"/>
            <a:ext cx="5669280" cy="3686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Lifetime maps and Baseline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Choose average, M or phi lifetime and set the colour-bar range.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Intensity can be integrated into the lifetime display.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Enable Baseline check and click a pixel to inspect its decay.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Inspector options: Log scale, map-τ curve, start at t₀, IRF, and display-only ±5 ns τ shift.</a:t>
            </a:r>
          </a:p>
        </p:txBody>
      </p:sp>
      <p:pic>
        <p:nvPicPr>
          <p:cNvPr id="4" name="Picture 3" descr="im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82699"/>
            <a:ext cx="5669280" cy="3686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FRET efficiency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FRET efficiency: E = 1 − τ/τ_D.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Display range is 0–1.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τ_D is the donor/reference lifetime entered for analysis.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After analysis, FRET is the rightmost tab.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Intensity, lifetime and FRET views support pan, zoom and reset.</a:t>
            </a:r>
          </a:p>
        </p:txBody>
      </p:sp>
      <p:pic>
        <p:nvPicPr>
          <p:cNvPr id="4" name="Picture 3" descr="img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074" y="1234440"/>
            <a:ext cx="305289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Masking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Three restrictions: manual mask, phasor ROI mask, photon-count threshold.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Saved masks are uint16 labelled TIFFs: 0 background, 1…N regions.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Tools: Polygon, Lasso, Brush (1–30 px), Delete region, Eraser, Clear mask.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Eraser removes pixels locally; Delete region removes the entire label ID.</a:t>
            </a:r>
          </a:p>
        </p:txBody>
      </p:sp>
      <p:pic>
        <p:nvPicPr>
          <p:cNvPr id="4" name="Picture 3" descr="img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693" y="1234440"/>
            <a:ext cx="451765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Saving and re-importing masks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Mask save → Save manual mask / Save ROI mask / Clear manual mask.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Saving writes the TIFF and applies it in the current session.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After restarting FLIMPA, saved masks are not automatically rediscovered.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Re-import via Load data → Import raw data with manual masks.</a:t>
            </a:r>
          </a:p>
        </p:txBody>
      </p:sp>
      <p:pic>
        <p:nvPicPr>
          <p:cNvPr id="4" name="Picture 3" descr="img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3007998"/>
            <a:ext cx="5669280" cy="14363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Results: Lifetime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Reports modulation (M), phase (phi), and average lifetime.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With multi-ROI masks, values are reported per ROI.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Group by Condition gives the condition mean.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Group by Sample gives the image mean when multiple ROIs are present.</a:t>
            </a:r>
          </a:p>
        </p:txBody>
      </p:sp>
      <p:pic>
        <p:nvPicPr>
          <p:cNvPr id="4" name="Picture 3" descr="im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77130"/>
            <a:ext cx="5669280" cy="32980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rPr lang="en-US"/>
              <a:t>Results: galleries and violin 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rPr lang="en-US"/>
              <a:t>• Gallery (tau): compare lifetime maps and phasor clouds across samples/conditions.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rPr lang="en-US"/>
              <a:t>• Gallery (I): compare intensity maps and set photon-count display limits.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rPr lang="en-US"/>
              <a:t>• Violin plots: distributions of average, M or phi lifetime per image or ROI.</a:t>
            </a:r>
          </a:p>
        </p:txBody>
      </p:sp>
      <p:pic>
        <p:nvPicPr>
          <p:cNvPr id="4" name="Picture 3" descr="img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360" y="127705"/>
            <a:ext cx="5669280" cy="3301295"/>
          </a:xfrm>
          <a:prstGeom prst="rect">
            <a:avLst/>
          </a:prstGeom>
        </p:spPr>
      </p:pic>
      <p:pic>
        <p:nvPicPr>
          <p:cNvPr id="5" name="Picture 4" descr="img_03.png">
            <a:extLst>
              <a:ext uri="{FF2B5EF4-FFF2-40B4-BE49-F238E27FC236}">
                <a16:creationId xmlns:a16="http://schemas.microsoft.com/office/drawing/2014/main" id="{B4472F2C-2E9E-E786-BCAD-A02018010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360" y="3505159"/>
            <a:ext cx="5669280" cy="33528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Saving and exporting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Save lifetime maps (.png + raw .tif).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Save lifetime/intensity galleries and intensity images.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Save transparent phasor and violin plots.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Export lifetime values table (.csv).</a:t>
            </a:r>
          </a:p>
          <a:p>
            <a:pPr>
              <a:spcAft>
                <a:spcPts val="1100"/>
              </a:spcAft>
              <a:defRPr sz="1500">
                <a:solidFill>
                  <a:srgbClr val="F5F7F8"/>
                </a:solidFill>
                <a:latin typeface="Aptos"/>
              </a:defRPr>
            </a:pPr>
            <a:r>
              <a:t>• Export phasor points (G,S) for a selected file.</a:t>
            </a:r>
          </a:p>
        </p:txBody>
      </p:sp>
      <p:pic>
        <p:nvPicPr>
          <p:cNvPr id="4" name="Picture 3" descr="img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419216"/>
            <a:ext cx="5669280" cy="26139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Export phasor points (G, 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Choose Save data → Export phasor points (G,S)…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Select the source file and CSV destination.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CSV columns: G, S, row, col for non-zero pixels only.</a:t>
            </a:r>
          </a:p>
          <a:p>
            <a:pPr>
              <a:spcAft>
                <a:spcPts val="1100"/>
              </a:spcAft>
              <a:defRPr sz="1600">
                <a:solidFill>
                  <a:srgbClr val="F5F7F8"/>
                </a:solidFill>
                <a:latin typeface="Aptos"/>
              </a:defRPr>
            </a:pPr>
            <a:r>
              <a:t>• row = y and col = x; both are zero-based image coordinates.</a:t>
            </a:r>
          </a:p>
        </p:txBody>
      </p:sp>
      <p:pic>
        <p:nvPicPr>
          <p:cNvPr id="4" name="Picture 3" descr="img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442" y="1234440"/>
            <a:ext cx="479015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8"/>
                </a:solidFill>
                <a:latin typeface="Aptos Display"/>
              </a:defRPr>
            </a:pPr>
            <a:r>
              <a:t>What changed from FLIMPA 1.4.2 to 2.0.0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In-app polygon/lasso/brush masking, Delete region and Eraser.</a:t>
            </a:r>
          </a:p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Mask save and mask re-import workflow.</a:t>
            </a:r>
          </a:p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FRET efficiency maps.</a:t>
            </a:r>
          </a:p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Baseline-check decay inspector.</a:t>
            </a:r>
          </a:p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G/S axis labels and Gallery Layers.</a:t>
            </a:r>
          </a:p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Pan, zoom and reset on image tabs.</a:t>
            </a:r>
          </a:p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Colormap presets/custom colormaps.</a:t>
            </a:r>
          </a:p>
          <a:p>
            <a:pPr>
              <a:spcAft>
                <a:spcPts val="1100"/>
              </a:spcAft>
              <a:defRPr sz="1700">
                <a:solidFill>
                  <a:srgbClr val="F5F7F8"/>
                </a:solidFill>
                <a:latin typeface="Aptos"/>
              </a:defRPr>
            </a:pPr>
            <a:r>
              <a:t>• Save data menu and G,S,row,col phasor export.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031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5F7F8"/>
                </a:solidFill>
              </a:defRPr>
            </a:pPr>
            <a:r>
              <a:t>Thank you for using FLIMPA</a:t>
            </a:r>
          </a:p>
          <a:p>
            <a:pPr algn="ctr">
              <a:defRPr sz="1800">
                <a:solidFill>
                  <a:srgbClr val="B6C0C7"/>
                </a:solidFill>
              </a:defRPr>
            </a:pPr>
            <a:r>
              <a:t>Please consider citing the original FLIMPA publication.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1055</Words>
  <Application>Microsoft Macintosh PowerPoint</Application>
  <PresentationFormat>Widescreen</PresentationFormat>
  <Paragraphs>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 Gerasimov</cp:lastModifiedBy>
  <cp:revision>2</cp:revision>
  <dcterms:created xsi:type="dcterms:W3CDTF">2013-01-27T09:14:16Z</dcterms:created>
  <dcterms:modified xsi:type="dcterms:W3CDTF">2026-09-05T12:57:22Z</dcterms:modified>
  <cp:category/>
</cp:coreProperties>
</file>